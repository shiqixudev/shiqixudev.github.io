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581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92"/>
    <p:restoredTop sz="94689"/>
  </p:normalViewPr>
  <p:slideViewPr>
    <p:cSldViewPr snapToGrid="0">
      <p:cViewPr varScale="1">
        <p:scale>
          <a:sx n="89" d="100"/>
          <a:sy n="89" d="100"/>
        </p:scale>
        <p:origin x="168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351DCB-D535-8349-B1D9-677AD585B1E7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587BF-AD0A-194D-B0A7-4D90E4912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390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 scan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7BD1D-57F2-4AA2-9428-BF308BAFC728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5557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3D5E9-083A-FB30-1DE7-98463A794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9ECB9D-8B97-E01D-2130-472663B3A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FEBFD-6FDA-86BF-AA0D-55D5867FE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3AACA-E5B7-9A4B-AB6A-69AD5CD35AB1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D2EAA-5E64-203B-816E-421EA98ED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F7CBB-66EF-B3AF-F51A-554F8DE9D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0FD7A-BD77-1E42-9837-CB46140B2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430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7CB74-CB2F-302D-3592-54AF63394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426F6-CD43-B42E-6368-63BC5C9B2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408D3-C439-1121-0076-6E895A6C3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3AACA-E5B7-9A4B-AB6A-69AD5CD35AB1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1C0EC-2E22-D50B-153A-BF912A1BE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DA06F-E7D9-C20C-EC91-0C8540845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0FD7A-BD77-1E42-9837-CB46140B2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318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7B7E8-1CB1-CA68-5ABC-34C4739E4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D3B9B-D247-E486-2878-DE4562120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B70FD-5EA7-C112-4422-555C98FF3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3AACA-E5B7-9A4B-AB6A-69AD5CD35AB1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CFDE0-362D-7494-4103-E0D48D8D6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C784A-3987-B205-2860-F2B360CEA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0FD7A-BD77-1E42-9837-CB46140B2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24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5237A-A86C-7AC4-8014-C3D62D627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E7ACA-7597-2669-F15E-CC788F397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9DD46-4F45-9B44-EE61-6F3A00625A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C79D7-DF16-F18F-78EB-D8F74719D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3AACA-E5B7-9A4B-AB6A-69AD5CD35AB1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E1DD2-163B-B137-DF40-F1BA06A07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567ADD-21EA-FC1B-A546-6B2F0AB8C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0FD7A-BD77-1E42-9837-CB46140B2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137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329D2-FC86-C86E-AA90-B2D03F2F7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C2B05-F0D7-7DD5-7A72-24657BD55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1A0E4D-67C6-BAB9-E74C-6840F17B9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969D5-57C4-7388-63DD-13BBA6A154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9BC2B4-E605-9043-7B32-7E40DFEC39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FB178F-266D-C426-4772-8A4FA875C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3AACA-E5B7-9A4B-AB6A-69AD5CD35AB1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F9B4DF-1215-291C-7194-BE461FE6B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D43CBE-5A9D-FD8F-F280-7B6436D99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0FD7A-BD77-1E42-9837-CB46140B2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950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168FD-6D22-F730-AD7C-087B8EC0D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B85FBC-CACA-CEBF-24EE-D3AFF7E2B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3AACA-E5B7-9A4B-AB6A-69AD5CD35AB1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49208D-6112-3BA0-C07A-F0C024B4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7CAC64-399F-F4D2-4ED9-A1963E69C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0FD7A-BD77-1E42-9837-CB46140B2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080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927DBB-2FD9-1471-1244-7AE182B29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3AACA-E5B7-9A4B-AB6A-69AD5CD35AB1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6FE5FB-F2A8-A6DC-EA0D-2D5C857C8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62E73-A703-439D-2426-C34736ECE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0FD7A-BD77-1E42-9837-CB46140B2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583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437D9-8AC5-073F-57E0-6D8726FFC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FF22F-0258-96DC-33BC-357AC3910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E6C16-BD7B-CE67-2FED-5BC4C34E5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3D20E-2E27-B4B4-BA0E-2995BE7BA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3AACA-E5B7-9A4B-AB6A-69AD5CD35AB1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F49EA-4411-CEFF-30E9-F37E70C70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3EB17-676D-17B4-D368-1993E89C8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0FD7A-BD77-1E42-9837-CB46140B2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5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AEFF9-3509-081A-A71A-34557F48D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773D44-371A-5E10-D101-F898BD2F25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7BE982-50F9-8077-9563-4AB032021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8FB60-6B66-EBD8-0090-F9EC6B9B6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3AACA-E5B7-9A4B-AB6A-69AD5CD35AB1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F7FB7F-AB7E-6A06-DD48-DAE877049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7CD6E-88B9-E66A-924F-F942BA346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0FD7A-BD77-1E42-9837-CB46140B2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501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B5E14-7A7E-6515-2645-71A27BD7F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6D8A31-1218-3834-79F5-7C654F386A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AECD1-BB6C-A297-E5AC-41A8D7B9E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3AACA-E5B7-9A4B-AB6A-69AD5CD35AB1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FD55A-562A-6EB5-5C7A-7AA178FC6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A07C8-350F-7903-EBBC-835C2A752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0FD7A-BD77-1E42-9837-CB46140B2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238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6A4735-3FC8-F916-783F-D7DD465C02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E33084-4483-31EE-B495-A6320F9C4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6519A-18BB-BF51-9D8D-48A3ECAE4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3AACA-E5B7-9A4B-AB6A-69AD5CD35AB1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C98CD-3C87-4DA2-E359-ABA797E7E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D6F4D-2C2F-3AB9-0821-78C539C32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0FD7A-BD77-1E42-9837-CB46140B2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082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Slides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0C2D3-DBDA-4D6C-BBD7-C8CCD961E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9" y="299633"/>
            <a:ext cx="9740106" cy="369332"/>
          </a:xfrm>
        </p:spPr>
        <p:txBody>
          <a:bodyPr/>
          <a:lstStyle/>
          <a:p>
            <a:r>
              <a:rPr lang="en-US" noProof="0"/>
              <a:t>Edit Master Cover Format</a:t>
            </a:r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162F79FD-685F-4AD0-AD07-F82DCA600046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8319" y="642855"/>
            <a:ext cx="9740106" cy="369332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>
                <a:latin typeface="ZEISS Frutiger Next W1G"/>
                <a:cs typeface="ZEISS Frutiger Next W1G" panose="020B0503040204020203" pitchFamily="34" charset="0"/>
              </a:defRPr>
            </a:lvl1pPr>
          </a:lstStyle>
          <a:p>
            <a:pPr lvl="0"/>
            <a:r>
              <a:rPr lang="en-US" noProof="0"/>
              <a:t>Edit master text format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12A02888-F9A5-43B4-9619-58072584F51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18319" y="1631837"/>
            <a:ext cx="5433219" cy="4464000"/>
          </a:xfrm>
        </p:spPr>
        <p:txBody>
          <a:bodyPr rIns="540000"/>
          <a:lstStyle/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D03185D6-5C86-4FFC-9297-944DDAF3BE3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242844" y="1631837"/>
            <a:ext cx="5433219" cy="4464000"/>
          </a:xfrm>
        </p:spPr>
        <p:txBody>
          <a:bodyPr rIns="540000"/>
          <a:lstStyle/>
          <a:p>
            <a:pPr lvl="0"/>
            <a:r>
              <a:rPr lang="en-US" noProof="0"/>
              <a:t>Edit master text format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EE6EBE84-2FE1-4C8A-9B0A-2A02FC98AA96}"/>
              </a:ext>
            </a:extLst>
          </p:cNvPr>
          <p:cNvSpPr>
            <a:spLocks noGrp="1"/>
          </p:cNvSpPr>
          <p:nvPr>
            <p:ph type="dt" sz="half" idx="66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24FDAE19-A17E-45B7-B64A-89511644E918}"/>
              </a:ext>
            </a:extLst>
          </p:cNvPr>
          <p:cNvSpPr>
            <a:spLocks noGrp="1"/>
          </p:cNvSpPr>
          <p:nvPr>
            <p:ph type="ftr" sz="quarter" idx="67"/>
          </p:nvPr>
        </p:nvSpPr>
        <p:spPr/>
        <p:txBody>
          <a:bodyPr/>
          <a:lstStyle/>
          <a:p>
            <a:r>
              <a:rPr lang="en-US" noProof="0"/>
              <a:t>shiqi.xu@zeiss.com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6ABDFF1-A98D-4590-8B67-160900C002CB}"/>
              </a:ext>
            </a:extLst>
          </p:cNvPr>
          <p:cNvSpPr>
            <a:spLocks noGrp="1"/>
          </p:cNvSpPr>
          <p:nvPr>
            <p:ph type="sldNum" sz="quarter" idx="68"/>
          </p:nvPr>
        </p:nvSpPr>
        <p:spPr/>
        <p:txBody>
          <a:bodyPr/>
          <a:lstStyle/>
          <a:p>
            <a:fld id="{C6A4AD45-2621-4550-9DC5-4911F1B5FA4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099997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F361A1-D910-22C5-1DE1-061BB4752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C6D726-3A48-6C37-43C2-F07F69ABA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CFC2C-DE62-5C33-E428-DC7CE628ED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53AACA-E5B7-9A4B-AB6A-69AD5CD35AB1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1E139-B1B7-757F-5290-9CAF61DDE5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C064B-63E3-2155-0A33-2A2036D702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90FD7A-BD77-1E42-9837-CB46140B2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84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microsoft.com/office/2007/relationships/hdphoto" Target="../media/hdphoto5.wdp"/><Relationship Id="rId3" Type="http://schemas.openxmlformats.org/officeDocument/2006/relationships/image" Target="../media/image5.png"/><Relationship Id="rId7" Type="http://schemas.microsoft.com/office/2007/relationships/hdphoto" Target="../media/hdphoto2.wdp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microsoft.com/office/2007/relationships/hdphoto" Target="../media/hdphoto4.wdp"/><Relationship Id="rId5" Type="http://schemas.microsoft.com/office/2007/relationships/hdphoto" Target="../media/hdphoto1.wdp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microsoft.com/office/2007/relationships/hdphoto" Target="../media/hdphoto3.wdp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A5A5463-0DA1-6A9D-9A54-384A212DDAA2}"/>
              </a:ext>
            </a:extLst>
          </p:cNvPr>
          <p:cNvGrpSpPr/>
          <p:nvPr/>
        </p:nvGrpSpPr>
        <p:grpSpPr>
          <a:xfrm>
            <a:off x="545331" y="1595282"/>
            <a:ext cx="9481258" cy="4598399"/>
            <a:chOff x="545331" y="1595282"/>
            <a:chExt cx="9481258" cy="4598399"/>
          </a:xfrm>
        </p:grpSpPr>
        <p:pic>
          <p:nvPicPr>
            <p:cNvPr id="5" name="object 18">
              <a:extLst>
                <a:ext uri="{FF2B5EF4-FFF2-40B4-BE49-F238E27FC236}">
                  <a16:creationId xmlns:a16="http://schemas.microsoft.com/office/drawing/2014/main" id="{9691DF0F-AC51-34DA-13A1-137B5E62A2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2909" y="5006307"/>
              <a:ext cx="1099969" cy="1187374"/>
            </a:xfrm>
            <a:prstGeom prst="rect">
              <a:avLst/>
            </a:prstGeom>
          </p:spPr>
        </p:pic>
        <p:sp>
          <p:nvSpPr>
            <p:cNvPr id="6" name="object 33">
              <a:extLst>
                <a:ext uri="{FF2B5EF4-FFF2-40B4-BE49-F238E27FC236}">
                  <a16:creationId xmlns:a16="http://schemas.microsoft.com/office/drawing/2014/main" id="{84179FE8-CEDB-F556-0B68-B1DF5AF3C413}"/>
                </a:ext>
              </a:extLst>
            </p:cNvPr>
            <p:cNvSpPr/>
            <p:nvPr/>
          </p:nvSpPr>
          <p:spPr>
            <a:xfrm>
              <a:off x="5065075" y="2170881"/>
              <a:ext cx="20171" cy="3885079"/>
            </a:xfrm>
            <a:custGeom>
              <a:avLst/>
              <a:gdLst/>
              <a:ahLst/>
              <a:cxnLst/>
              <a:rect l="l" t="t" r="r" b="b"/>
              <a:pathLst>
                <a:path w="22860" h="4403090">
                  <a:moveTo>
                    <a:pt x="0" y="4402550"/>
                  </a:moveTo>
                  <a:lnTo>
                    <a:pt x="22859" y="0"/>
                  </a:lnTo>
                </a:path>
              </a:pathLst>
            </a:custGeom>
            <a:ln w="152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02CB5D4-E2C7-600D-8EEC-E62C6A090098}"/>
                </a:ext>
              </a:extLst>
            </p:cNvPr>
            <p:cNvSpPr txBox="1"/>
            <p:nvPr/>
          </p:nvSpPr>
          <p:spPr>
            <a:xfrm>
              <a:off x="726175" y="1598019"/>
              <a:ext cx="3468898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ZEISS Frutiger Next W1G"/>
                  <a:ea typeface="+mn-ea"/>
                  <a:cs typeface="+mn-cs"/>
                </a:rPr>
                <a:t>Classical High-Res </a:t>
              </a: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ZEISS Frutiger Next W1G"/>
                  <a:ea typeface="+mn-ea"/>
                  <a:cs typeface="+mn-cs"/>
                </a:rPr>
                <a:t>MicroCT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ZEISS Frutiger Next W1G"/>
                  <a:ea typeface="+mn-ea"/>
                  <a:cs typeface="+mn-cs"/>
                </a:rPr>
                <a:t> – </a:t>
              </a: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ZEISS Frutiger Next W1G"/>
                  <a:ea typeface="+mn-ea"/>
                  <a:cs typeface="+mn-cs"/>
                </a:rPr>
                <a:t>Xradia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ZEISS Frutiger Next W1G"/>
                  <a:ea typeface="+mn-ea"/>
                  <a:cs typeface="+mn-cs"/>
                </a:rPr>
                <a:t> Versa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843EAE1-9794-5C87-A9C4-FDD71B552E05}"/>
                </a:ext>
              </a:extLst>
            </p:cNvPr>
            <p:cNvGrpSpPr/>
            <p:nvPr/>
          </p:nvGrpSpPr>
          <p:grpSpPr>
            <a:xfrm>
              <a:off x="545331" y="1927131"/>
              <a:ext cx="1846984" cy="1508132"/>
              <a:chOff x="983481" y="1927131"/>
              <a:chExt cx="1846984" cy="1508132"/>
            </a:xfrm>
          </p:grpSpPr>
          <p:pic>
            <p:nvPicPr>
              <p:cNvPr id="19" name="object 14">
                <a:extLst>
                  <a:ext uri="{FF2B5EF4-FFF2-40B4-BE49-F238E27FC236}">
                    <a16:creationId xmlns:a16="http://schemas.microsoft.com/office/drawing/2014/main" id="{F7E45C54-610A-93C7-0936-6506FF3A8359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983481" y="1939024"/>
                <a:ext cx="1846984" cy="1496239"/>
              </a:xfrm>
              <a:prstGeom prst="rect">
                <a:avLst/>
              </a:prstGeom>
            </p:spPr>
          </p:pic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184E0FF-E09E-7958-E7BC-99F694AA779C}"/>
                  </a:ext>
                </a:extLst>
              </p:cNvPr>
              <p:cNvSpPr/>
              <p:nvPr/>
            </p:nvSpPr>
            <p:spPr>
              <a:xfrm>
                <a:off x="1583531" y="1927131"/>
                <a:ext cx="795029" cy="182657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80000" tIns="180000" rIns="180000" bIns="180000" rtlCol="0" anchor="t" anchorCtr="0">
                <a:no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ZEISS Frutiger Next W1G"/>
                  <a:ea typeface="+mn-ea"/>
                  <a:cs typeface="+mn-cs"/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3C947D8-D844-7E6E-38B4-508BE1D90915}"/>
                </a:ext>
              </a:extLst>
            </p:cNvPr>
            <p:cNvSpPr txBox="1"/>
            <p:nvPr/>
          </p:nvSpPr>
          <p:spPr>
            <a:xfrm>
              <a:off x="6103643" y="5558171"/>
              <a:ext cx="3548287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ZEISS Frutiger Next W1G"/>
                  <a:ea typeface="+mn-ea"/>
                  <a:cs typeface="+mn-cs"/>
                </a:rPr>
                <a:t>Laminographic geometry allows for rapid imaging of 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BB357"/>
                  </a:solidFill>
                  <a:effectLst/>
                  <a:uLnTx/>
                  <a:uFillTx/>
                  <a:latin typeface="ZEISS Frutiger Next W1G"/>
                  <a:ea typeface="+mn-ea"/>
                  <a:cs typeface="+mn-cs"/>
                </a:rPr>
                <a:t>larger flat samples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D0F98C9-16CF-0F61-3F1D-A9E919BB69A7}"/>
                </a:ext>
              </a:extLst>
            </p:cNvPr>
            <p:cNvSpPr txBox="1"/>
            <p:nvPr/>
          </p:nvSpPr>
          <p:spPr>
            <a:xfrm>
              <a:off x="6478302" y="1595282"/>
              <a:ext cx="354828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ZEISS Frutiger Next W1G"/>
                  <a:ea typeface="+mn-ea"/>
                  <a:cs typeface="+mn-cs"/>
                </a:rPr>
                <a:t>Rotational laminographic CT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BB357"/>
                </a:solidFill>
                <a:effectLst/>
                <a:uLnTx/>
                <a:uFillTx/>
                <a:latin typeface="ZEISS Frutiger Next W1G"/>
                <a:ea typeface="+mn-ea"/>
                <a:cs typeface="+mn-cs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7E995D3-AE35-9DF4-9E41-5FBB13BE9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6982" y="3560824"/>
              <a:ext cx="1329847" cy="1236069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735E74D-C811-AE8F-9640-5B816FEB60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1681" y="2170881"/>
              <a:ext cx="3882561" cy="3242579"/>
            </a:xfrm>
            <a:prstGeom prst="rect">
              <a:avLst/>
            </a:prstGeom>
          </p:spPr>
        </p:pic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C8F9CAE3-3F17-784C-4632-9C9B92FC47DC}"/>
                </a:ext>
              </a:extLst>
            </p:cNvPr>
            <p:cNvSpPr/>
            <p:nvPr/>
          </p:nvSpPr>
          <p:spPr>
            <a:xfrm>
              <a:off x="1364898" y="2517065"/>
              <a:ext cx="355992" cy="340155"/>
            </a:xfrm>
            <a:custGeom>
              <a:avLst/>
              <a:gdLst/>
              <a:ahLst/>
              <a:cxnLst/>
              <a:rect l="l" t="t" r="r" b="b"/>
              <a:pathLst>
                <a:path w="1971039" h="867410">
                  <a:moveTo>
                    <a:pt x="0" y="144970"/>
                  </a:moveTo>
                  <a:lnTo>
                    <a:pt x="7459" y="99425"/>
                  </a:lnTo>
                  <a:lnTo>
                    <a:pt x="28172" y="59664"/>
                  </a:lnTo>
                  <a:lnTo>
                    <a:pt x="59644" y="28178"/>
                  </a:lnTo>
                  <a:lnTo>
                    <a:pt x="99376" y="7459"/>
                  </a:lnTo>
                  <a:lnTo>
                    <a:pt x="144875" y="0"/>
                  </a:lnTo>
                  <a:lnTo>
                    <a:pt x="1827371" y="0"/>
                  </a:lnTo>
                  <a:lnTo>
                    <a:pt x="1872747" y="7459"/>
                  </a:lnTo>
                  <a:lnTo>
                    <a:pt x="1912107" y="28178"/>
                  </a:lnTo>
                  <a:lnTo>
                    <a:pt x="1943113" y="59664"/>
                  </a:lnTo>
                  <a:lnTo>
                    <a:pt x="1963430" y="99425"/>
                  </a:lnTo>
                  <a:lnTo>
                    <a:pt x="1970722" y="144970"/>
                  </a:lnTo>
                  <a:lnTo>
                    <a:pt x="1970722" y="722090"/>
                  </a:lnTo>
                  <a:lnTo>
                    <a:pt x="1963430" y="768220"/>
                  </a:lnTo>
                  <a:lnTo>
                    <a:pt x="1943113" y="808054"/>
                  </a:lnTo>
                  <a:lnTo>
                    <a:pt x="1912107" y="839320"/>
                  </a:lnTo>
                  <a:lnTo>
                    <a:pt x="1872747" y="859747"/>
                  </a:lnTo>
                  <a:lnTo>
                    <a:pt x="1827371" y="867060"/>
                  </a:lnTo>
                  <a:lnTo>
                    <a:pt x="144875" y="867060"/>
                  </a:lnTo>
                  <a:lnTo>
                    <a:pt x="99376" y="859747"/>
                  </a:lnTo>
                  <a:lnTo>
                    <a:pt x="59644" y="839320"/>
                  </a:lnTo>
                  <a:lnTo>
                    <a:pt x="28172" y="808054"/>
                  </a:lnTo>
                  <a:lnTo>
                    <a:pt x="7459" y="768220"/>
                  </a:lnTo>
                  <a:lnTo>
                    <a:pt x="0" y="722090"/>
                  </a:lnTo>
                  <a:lnTo>
                    <a:pt x="0" y="144970"/>
                  </a:lnTo>
                  <a:close/>
                </a:path>
              </a:pathLst>
            </a:custGeom>
            <a:noFill/>
            <a:ln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8">
              <a:extLst>
                <a:ext uri="{FF2B5EF4-FFF2-40B4-BE49-F238E27FC236}">
                  <a16:creationId xmlns:a16="http://schemas.microsoft.com/office/drawing/2014/main" id="{B7C8A571-2A4F-D559-D2DF-2445C533D4E9}"/>
                </a:ext>
              </a:extLst>
            </p:cNvPr>
            <p:cNvSpPr/>
            <p:nvPr/>
          </p:nvSpPr>
          <p:spPr>
            <a:xfrm>
              <a:off x="814913" y="3529534"/>
              <a:ext cx="1516885" cy="1267359"/>
            </a:xfrm>
            <a:custGeom>
              <a:avLst/>
              <a:gdLst/>
              <a:ahLst/>
              <a:cxnLst/>
              <a:rect l="l" t="t" r="r" b="b"/>
              <a:pathLst>
                <a:path w="1971039" h="867410">
                  <a:moveTo>
                    <a:pt x="0" y="144970"/>
                  </a:moveTo>
                  <a:lnTo>
                    <a:pt x="7459" y="99425"/>
                  </a:lnTo>
                  <a:lnTo>
                    <a:pt x="28172" y="59664"/>
                  </a:lnTo>
                  <a:lnTo>
                    <a:pt x="59644" y="28178"/>
                  </a:lnTo>
                  <a:lnTo>
                    <a:pt x="99376" y="7459"/>
                  </a:lnTo>
                  <a:lnTo>
                    <a:pt x="144875" y="0"/>
                  </a:lnTo>
                  <a:lnTo>
                    <a:pt x="1827371" y="0"/>
                  </a:lnTo>
                  <a:lnTo>
                    <a:pt x="1872747" y="7459"/>
                  </a:lnTo>
                  <a:lnTo>
                    <a:pt x="1912107" y="28178"/>
                  </a:lnTo>
                  <a:lnTo>
                    <a:pt x="1943113" y="59664"/>
                  </a:lnTo>
                  <a:lnTo>
                    <a:pt x="1963430" y="99425"/>
                  </a:lnTo>
                  <a:lnTo>
                    <a:pt x="1970722" y="144970"/>
                  </a:lnTo>
                  <a:lnTo>
                    <a:pt x="1970722" y="722090"/>
                  </a:lnTo>
                  <a:lnTo>
                    <a:pt x="1963430" y="768220"/>
                  </a:lnTo>
                  <a:lnTo>
                    <a:pt x="1943113" y="808054"/>
                  </a:lnTo>
                  <a:lnTo>
                    <a:pt x="1912107" y="839320"/>
                  </a:lnTo>
                  <a:lnTo>
                    <a:pt x="1872747" y="859747"/>
                  </a:lnTo>
                  <a:lnTo>
                    <a:pt x="1827371" y="867060"/>
                  </a:lnTo>
                  <a:lnTo>
                    <a:pt x="144875" y="867060"/>
                  </a:lnTo>
                  <a:lnTo>
                    <a:pt x="99376" y="859747"/>
                  </a:lnTo>
                  <a:lnTo>
                    <a:pt x="59644" y="839320"/>
                  </a:lnTo>
                  <a:lnTo>
                    <a:pt x="28172" y="808054"/>
                  </a:lnTo>
                  <a:lnTo>
                    <a:pt x="7459" y="768220"/>
                  </a:lnTo>
                  <a:lnTo>
                    <a:pt x="0" y="722090"/>
                  </a:lnTo>
                  <a:lnTo>
                    <a:pt x="0" y="144970"/>
                  </a:lnTo>
                  <a:close/>
                </a:path>
              </a:pathLst>
            </a:custGeom>
            <a:noFill/>
            <a:ln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588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574D7C-2886-572D-D6C9-E729B07257D7}"/>
                </a:ext>
              </a:extLst>
            </p:cNvPr>
            <p:cNvCxnSpPr/>
            <p:nvPr/>
          </p:nvCxnSpPr>
          <p:spPr>
            <a:xfrm flipH="1">
              <a:off x="906982" y="2857220"/>
              <a:ext cx="457916" cy="744279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C55C1BB-3621-B35C-B08C-E7B5B46955A8}"/>
                </a:ext>
              </a:extLst>
            </p:cNvPr>
            <p:cNvCxnSpPr>
              <a:cxnSpLocks/>
            </p:cNvCxnSpPr>
            <p:nvPr/>
          </p:nvCxnSpPr>
          <p:spPr>
            <a:xfrm>
              <a:off x="1672784" y="2860132"/>
              <a:ext cx="593297" cy="669402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5466009-62C2-CFFB-C7EF-46A4F2A7E8C8}"/>
                </a:ext>
              </a:extLst>
            </p:cNvPr>
            <p:cNvSpPr txBox="1"/>
            <p:nvPr/>
          </p:nvSpPr>
          <p:spPr>
            <a:xfrm>
              <a:off x="2165059" y="5433010"/>
              <a:ext cx="2149156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ZEISS Frutiger Next W1G"/>
                  <a:ea typeface="+mn-ea"/>
                  <a:cs typeface="+mn-cs"/>
                </a:rPr>
                <a:t>Circular trajectory is best for 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EA591B"/>
                  </a:solidFill>
                  <a:effectLst/>
                  <a:uLnTx/>
                  <a:uFillTx/>
                  <a:latin typeface="ZEISS Frutiger Next W1G"/>
                  <a:ea typeface="+mn-ea"/>
                  <a:cs typeface="+mn-cs"/>
                </a:rPr>
                <a:t>cylindrical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ZEISS Frutiger Next W1G"/>
                  <a:ea typeface="+mn-ea"/>
                  <a:cs typeface="+mn-cs"/>
                </a:rPr>
                <a:t> object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BB357"/>
                </a:solidFill>
                <a:effectLst/>
                <a:uLnTx/>
                <a:uFillTx/>
                <a:latin typeface="ZEISS Frutiger Next W1G"/>
                <a:ea typeface="+mn-ea"/>
                <a:cs typeface="+mn-cs"/>
              </a:endParaRPr>
            </a:p>
          </p:txBody>
        </p:sp>
        <p:sp>
          <p:nvSpPr>
            <p:cNvPr id="18" name="Arrow: Right 5">
              <a:extLst>
                <a:ext uri="{FF2B5EF4-FFF2-40B4-BE49-F238E27FC236}">
                  <a16:creationId xmlns:a16="http://schemas.microsoft.com/office/drawing/2014/main" id="{EDA9D4AA-8C91-1CF0-1408-E89DFEB50AE9}"/>
                </a:ext>
              </a:extLst>
            </p:cNvPr>
            <p:cNvSpPr/>
            <p:nvPr/>
          </p:nvSpPr>
          <p:spPr>
            <a:xfrm>
              <a:off x="3360195" y="3867807"/>
              <a:ext cx="2336412" cy="741478"/>
            </a:xfrm>
            <a:prstGeom prst="rightArrow">
              <a:avLst/>
            </a:prstGeom>
            <a:solidFill>
              <a:srgbClr val="F2F5F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0" tIns="180000" rIns="180000" bIns="180000" rtlCol="0" anchor="t" anchorCtr="0">
              <a:no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ZEISS Frutiger Next W1G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2189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6CE46-F94C-C7CF-E208-841E6391B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Laminographic computed tomography (LCT)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BBEF4-99DC-A60C-D503-D1D491F166E1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r>
              <a:rPr lang="en-US" dirty="0"/>
              <a:t>Results: a DRAM chip with </a:t>
            </a:r>
            <a:r>
              <a:rPr lang="en-US" sz="2400" dirty="0">
                <a:solidFill>
                  <a:srgbClr val="000000"/>
                </a:solidFill>
                <a:latin typeface="ZEISS Frutiger Next W1G"/>
              </a:rPr>
              <a:t>TSVs and </a:t>
            </a:r>
            <a:r>
              <a:rPr lang="en-US" sz="2400" dirty="0" err="1">
                <a:solidFill>
                  <a:srgbClr val="000000"/>
                </a:solidFill>
                <a:latin typeface="ZEISS Frutiger Next W1G"/>
              </a:rPr>
              <a:t>microbumps</a:t>
            </a:r>
            <a:r>
              <a:rPr lang="en-US" sz="2400" dirty="0">
                <a:solidFill>
                  <a:srgbClr val="000000"/>
                </a:solidFill>
                <a:latin typeface="ZEISS Frutiger Next W1G"/>
              </a:rPr>
              <a:t>; </a:t>
            </a:r>
            <a:r>
              <a:rPr lang="en-US" dirty="0"/>
              <a:t>2mins scan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7E299C9-3313-CE39-2820-C5AB8C167E3E}"/>
              </a:ext>
            </a:extLst>
          </p:cNvPr>
          <p:cNvGrpSpPr/>
          <p:nvPr/>
        </p:nvGrpSpPr>
        <p:grpSpPr>
          <a:xfrm>
            <a:off x="839059" y="2396875"/>
            <a:ext cx="3229154" cy="2429765"/>
            <a:chOff x="1525726" y="2341154"/>
            <a:chExt cx="2502707" cy="1883153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DFC6D29-4D11-7BE7-BE87-EBCED89437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9425" t="32408" r="39430" b="30499"/>
            <a:stretch/>
          </p:blipFill>
          <p:spPr>
            <a:xfrm>
              <a:off x="1685718" y="2341154"/>
              <a:ext cx="2342715" cy="1883153"/>
            </a:xfrm>
            <a:prstGeom prst="rect">
              <a:avLst/>
            </a:prstGeom>
          </p:spPr>
        </p:pic>
        <p:sp>
          <p:nvSpPr>
            <p:cNvPr id="25" name="Trapezoid 24">
              <a:extLst>
                <a:ext uri="{FF2B5EF4-FFF2-40B4-BE49-F238E27FC236}">
                  <a16:creationId xmlns:a16="http://schemas.microsoft.com/office/drawing/2014/main" id="{385136CF-525E-93CE-6458-FDCA6487592F}"/>
                </a:ext>
              </a:extLst>
            </p:cNvPr>
            <p:cNvSpPr/>
            <p:nvPr/>
          </p:nvSpPr>
          <p:spPr>
            <a:xfrm>
              <a:off x="1796240" y="2966946"/>
              <a:ext cx="956160" cy="896150"/>
            </a:xfrm>
            <a:prstGeom prst="trapezoid">
              <a:avLst>
                <a:gd name="adj" fmla="val 0"/>
              </a:avLst>
            </a:prstGeom>
            <a:noFill/>
            <a:ln w="28575">
              <a:gradFill>
                <a:gsLst>
                  <a:gs pos="0">
                    <a:srgbClr val="00B050"/>
                  </a:gs>
                  <a:gs pos="40000">
                    <a:srgbClr val="00B050"/>
                  </a:gs>
                  <a:gs pos="70000">
                    <a:srgbClr val="00B050"/>
                  </a:gs>
                  <a:gs pos="100000">
                    <a:srgbClr val="00B050">
                      <a:alpha val="35000"/>
                    </a:srgb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rapezoid 25">
              <a:extLst>
                <a:ext uri="{FF2B5EF4-FFF2-40B4-BE49-F238E27FC236}">
                  <a16:creationId xmlns:a16="http://schemas.microsoft.com/office/drawing/2014/main" id="{BF6A53EC-BD3F-C2B6-9CF6-CC03DEE57D33}"/>
                </a:ext>
              </a:extLst>
            </p:cNvPr>
            <p:cNvSpPr/>
            <p:nvPr/>
          </p:nvSpPr>
          <p:spPr>
            <a:xfrm>
              <a:off x="2752400" y="2966946"/>
              <a:ext cx="1148120" cy="687388"/>
            </a:xfrm>
            <a:prstGeom prst="trapezoid">
              <a:avLst>
                <a:gd name="adj" fmla="val 11111"/>
              </a:avLst>
            </a:prstGeom>
            <a:noFill/>
            <a:ln w="28575">
              <a:gradFill>
                <a:gsLst>
                  <a:gs pos="0">
                    <a:srgbClr val="AC75D5">
                      <a:alpha val="49804"/>
                    </a:srgbClr>
                  </a:gs>
                  <a:gs pos="42000">
                    <a:srgbClr val="9C5BCD">
                      <a:alpha val="50000"/>
                    </a:srgbClr>
                  </a:gs>
                  <a:gs pos="73000">
                    <a:srgbClr val="9C5BCD">
                      <a:alpha val="50000"/>
                    </a:srgbClr>
                  </a:gs>
                  <a:gs pos="100000">
                    <a:srgbClr val="9C5BCD"/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8140487-CB83-5B52-6608-46D0E5011357}"/>
                </a:ext>
              </a:extLst>
            </p:cNvPr>
            <p:cNvGrpSpPr/>
            <p:nvPr/>
          </p:nvGrpSpPr>
          <p:grpSpPr>
            <a:xfrm>
              <a:off x="3320065" y="3783117"/>
              <a:ext cx="570990" cy="332620"/>
              <a:chOff x="4629101" y="3783117"/>
              <a:chExt cx="570990" cy="33262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524351C-97E1-D241-0752-5D2793D622AB}"/>
                  </a:ext>
                </a:extLst>
              </p:cNvPr>
              <p:cNvSpPr/>
              <p:nvPr/>
            </p:nvSpPr>
            <p:spPr>
              <a:xfrm>
                <a:off x="4758386" y="3783117"/>
                <a:ext cx="312420" cy="838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BB09E8C-3D6A-F02D-90ED-29BCD7868B02}"/>
                  </a:ext>
                </a:extLst>
              </p:cNvPr>
              <p:cNvSpPr txBox="1"/>
              <p:nvPr/>
            </p:nvSpPr>
            <p:spPr>
              <a:xfrm>
                <a:off x="4629101" y="3838738"/>
                <a:ext cx="57099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</a:t>
                </a:r>
                <a:r>
                  <a:rPr lang="el-GR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μ</a:t>
                </a:r>
                <a:r>
                  <a:rPr 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0A15417-232D-3336-8B02-A5CD24E14D8C}"/>
                </a:ext>
              </a:extLst>
            </p:cNvPr>
            <p:cNvGrpSpPr/>
            <p:nvPr/>
          </p:nvGrpSpPr>
          <p:grpSpPr>
            <a:xfrm>
              <a:off x="1525726" y="3537662"/>
              <a:ext cx="660396" cy="676610"/>
              <a:chOff x="936264" y="3432291"/>
              <a:chExt cx="660396" cy="676610"/>
            </a:xfrm>
          </p:grpSpPr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890CB4CD-437A-F926-216D-F85438F9D3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57320" y="3523810"/>
                <a:ext cx="30313" cy="339286"/>
              </a:xfrm>
              <a:prstGeom prst="straightConnector1">
                <a:avLst/>
              </a:prstGeom>
              <a:ln w="1905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3AFB8167-A4B9-8121-B6CC-CAB5663ADF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2870" y="3858333"/>
                <a:ext cx="326922" cy="0"/>
              </a:xfrm>
              <a:prstGeom prst="straightConnector1">
                <a:avLst/>
              </a:prstGeom>
              <a:ln w="1905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453300BD-B8E9-DBB8-54C2-039C3EB47A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3978" y="3592908"/>
                <a:ext cx="151391" cy="271293"/>
              </a:xfrm>
              <a:prstGeom prst="straightConnector1">
                <a:avLst/>
              </a:prstGeom>
              <a:ln w="1905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4A56C91-8044-56DF-CF3B-F75CAF8ED089}"/>
                  </a:ext>
                </a:extLst>
              </p:cNvPr>
              <p:cNvSpPr txBox="1"/>
              <p:nvPr/>
            </p:nvSpPr>
            <p:spPr>
              <a:xfrm>
                <a:off x="1328638" y="3816513"/>
                <a:ext cx="268022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43F798-55CA-DFB1-3923-2AEB8105073B}"/>
                  </a:ext>
                </a:extLst>
              </p:cNvPr>
              <p:cNvSpPr txBox="1"/>
              <p:nvPr/>
            </p:nvSpPr>
            <p:spPr>
              <a:xfrm>
                <a:off x="936264" y="3432291"/>
                <a:ext cx="268022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19AE092-2C63-9135-D84D-7396C34B4E2C}"/>
                  </a:ext>
                </a:extLst>
              </p:cNvPr>
              <p:cNvSpPr txBox="1"/>
              <p:nvPr/>
            </p:nvSpPr>
            <p:spPr>
              <a:xfrm>
                <a:off x="1284057" y="3488600"/>
                <a:ext cx="268022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386C0B6-6F3B-9017-FC71-7EFA38D99C5E}"/>
                </a:ext>
              </a:extLst>
            </p:cNvPr>
            <p:cNvSpPr txBox="1"/>
            <p:nvPr/>
          </p:nvSpPr>
          <p:spPr>
            <a:xfrm>
              <a:off x="1946461" y="2646298"/>
              <a:ext cx="10055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Slice1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0562EBC-A5F7-8396-0F5F-3ED4529CE67D}"/>
                </a:ext>
              </a:extLst>
            </p:cNvPr>
            <p:cNvSpPr txBox="1"/>
            <p:nvPr/>
          </p:nvSpPr>
          <p:spPr>
            <a:xfrm>
              <a:off x="3022914" y="2660412"/>
              <a:ext cx="10055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9C5BC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Slice2</a:t>
              </a: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4CC566D0-5F81-CEEC-0E0A-FAAD066B024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rcRect l="29821" t="43284" r="37523" b="31071"/>
          <a:stretch/>
        </p:blipFill>
        <p:spPr>
          <a:xfrm>
            <a:off x="5480772" y="1782750"/>
            <a:ext cx="1765471" cy="187340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CF00185-D54F-8048-0F65-2A265A4EE95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rcRect l="29821" t="43284" r="37523" b="31071"/>
          <a:stretch/>
        </p:blipFill>
        <p:spPr>
          <a:xfrm>
            <a:off x="7306621" y="1782748"/>
            <a:ext cx="1765471" cy="187341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28CBE8F-DA1B-0543-4E64-D102A314B3B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8000" contrast="20000"/>
                    </a14:imgEffect>
                  </a14:imgLayer>
                </a14:imgProps>
              </a:ext>
            </a:extLst>
          </a:blip>
          <a:srcRect l="29821" t="43284" r="37523" b="31071"/>
          <a:stretch/>
        </p:blipFill>
        <p:spPr>
          <a:xfrm>
            <a:off x="9128238" y="1782748"/>
            <a:ext cx="1765471" cy="187341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AD6D6B9-D5B9-BF52-411F-5594EDC2338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alphaModFix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44692" t="65342" r="24830" b="13380"/>
          <a:stretch/>
        </p:blipFill>
        <p:spPr>
          <a:xfrm rot="5400000">
            <a:off x="5426802" y="4022836"/>
            <a:ext cx="1873409" cy="1765472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C626834-066B-1BD2-F8E4-1757D76195D3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44681" t="65328" r="24847" b="13400"/>
          <a:stretch/>
        </p:blipFill>
        <p:spPr>
          <a:xfrm rot="5400000">
            <a:off x="7252652" y="4022837"/>
            <a:ext cx="1873413" cy="176547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E273533-B941-8249-EAEC-29678DF72615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44681" t="65328" r="24847" b="13400"/>
          <a:stretch/>
        </p:blipFill>
        <p:spPr>
          <a:xfrm rot="5400000">
            <a:off x="9074262" y="4022835"/>
            <a:ext cx="1873409" cy="1765475"/>
          </a:xfrm>
          <a:prstGeom prst="rect">
            <a:avLst/>
          </a:prstGeom>
        </p:spPr>
      </p:pic>
      <p:pic>
        <p:nvPicPr>
          <p:cNvPr id="45" name="Picture 2" descr="Choosing Colormaps in Matplotlib — Matplotlib 3.9.1 documentation">
            <a:extLst>
              <a:ext uri="{FF2B5EF4-FFF2-40B4-BE49-F238E27FC236}">
                <a16:creationId xmlns:a16="http://schemas.microsoft.com/office/drawing/2014/main" id="{A1CE39F4-A556-8FDB-FE9F-F0820DFC7E0C}"/>
              </a:ext>
            </a:extLst>
          </p:cNvPr>
          <p:cNvPicPr>
            <a:picLocks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9" t="24002" r="1663" b="72158"/>
          <a:stretch/>
        </p:blipFill>
        <p:spPr bwMode="auto">
          <a:xfrm>
            <a:off x="10052560" y="5536426"/>
            <a:ext cx="718723" cy="119787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157B6AA4-F9BF-FD09-EA87-348B77CBC9A9}"/>
              </a:ext>
            </a:extLst>
          </p:cNvPr>
          <p:cNvSpPr/>
          <p:nvPr/>
        </p:nvSpPr>
        <p:spPr>
          <a:xfrm>
            <a:off x="8480025" y="5452694"/>
            <a:ext cx="486459" cy="95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AEF378C-5ABF-91BD-46AE-E4C5F51CA6B1}"/>
              </a:ext>
            </a:extLst>
          </p:cNvPr>
          <p:cNvSpPr txBox="1"/>
          <p:nvPr/>
        </p:nvSpPr>
        <p:spPr>
          <a:xfrm>
            <a:off x="8292273" y="5516384"/>
            <a:ext cx="859299" cy="362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  <a:r>
              <a:rPr lang="el-G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F22EA8E-6A1F-43AC-30F1-E457F764E66D}"/>
              </a:ext>
            </a:extLst>
          </p:cNvPr>
          <p:cNvSpPr/>
          <p:nvPr/>
        </p:nvSpPr>
        <p:spPr>
          <a:xfrm>
            <a:off x="5385462" y="1693131"/>
            <a:ext cx="5593278" cy="2076055"/>
          </a:xfrm>
          <a:prstGeom prst="rect">
            <a:avLst/>
          </a:prstGeom>
          <a:noFill/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350EA8D-31B3-7C97-6621-0D50817368D9}"/>
              </a:ext>
            </a:extLst>
          </p:cNvPr>
          <p:cNvSpPr/>
          <p:nvPr/>
        </p:nvSpPr>
        <p:spPr>
          <a:xfrm>
            <a:off x="5385462" y="3867544"/>
            <a:ext cx="5593278" cy="2076055"/>
          </a:xfrm>
          <a:prstGeom prst="rect">
            <a:avLst/>
          </a:prstGeom>
          <a:noFill/>
          <a:ln w="25400">
            <a:solidFill>
              <a:srgbClr val="9C5BCD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08B0A1-6113-E6E7-8BD8-8C0067C61D71}"/>
              </a:ext>
            </a:extLst>
          </p:cNvPr>
          <p:cNvSpPr txBox="1"/>
          <p:nvPr/>
        </p:nvSpPr>
        <p:spPr>
          <a:xfrm rot="16200000">
            <a:off x="4495230" y="2304252"/>
            <a:ext cx="1317238" cy="685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Sagittal Slice1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90A160-3BEA-A625-6328-4BAD2260F67B}"/>
              </a:ext>
            </a:extLst>
          </p:cNvPr>
          <p:cNvSpPr txBox="1"/>
          <p:nvPr/>
        </p:nvSpPr>
        <p:spPr>
          <a:xfrm rot="16200000">
            <a:off x="4074575" y="4796854"/>
            <a:ext cx="17830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9C5BC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Transverse Slice2</a:t>
            </a:r>
          </a:p>
        </p:txBody>
      </p:sp>
      <p:sp>
        <p:nvSpPr>
          <p:cNvPr id="55" name="Footer Placeholder 54">
            <a:extLst>
              <a:ext uri="{FF2B5EF4-FFF2-40B4-BE49-F238E27FC236}">
                <a16:creationId xmlns:a16="http://schemas.microsoft.com/office/drawing/2014/main" id="{0E88061E-5FAE-B9F3-4AFC-3D72ECF00438}"/>
              </a:ext>
            </a:extLst>
          </p:cNvPr>
          <p:cNvSpPr>
            <a:spLocks noGrp="1"/>
          </p:cNvSpPr>
          <p:nvPr>
            <p:ph type="ftr" sz="quarter" idx="67"/>
          </p:nvPr>
        </p:nvSpPr>
        <p:spPr/>
        <p:txBody>
          <a:bodyPr/>
          <a:lstStyle/>
          <a:p>
            <a:r>
              <a:rPr lang="en-US" noProof="0"/>
              <a:t>shiqi.xu@zeiss.com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8C057E-3864-BCF3-73C2-6498BE65C04E}"/>
              </a:ext>
            </a:extLst>
          </p:cNvPr>
          <p:cNvSpPr txBox="1"/>
          <p:nvPr/>
        </p:nvSpPr>
        <p:spPr>
          <a:xfrm>
            <a:off x="5190016" y="1349894"/>
            <a:ext cx="202459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ZEISS Frutiger Next W1G"/>
                <a:ea typeface="+mn-ea"/>
                <a:cs typeface="+mn-cs"/>
              </a:rPr>
              <a:t>Filtered back-projection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81A0BB-947E-B3FF-83C3-8239CE36BA73}"/>
              </a:ext>
            </a:extLst>
          </p:cNvPr>
          <p:cNvSpPr txBox="1"/>
          <p:nvPr/>
        </p:nvSpPr>
        <p:spPr>
          <a:xfrm>
            <a:off x="7589314" y="1338126"/>
            <a:ext cx="148277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ZEISS Frutiger Next W1G"/>
                <a:ea typeface="+mn-ea"/>
                <a:cs typeface="+mn-cs"/>
              </a:rPr>
              <a:t>ZEISS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ZEISS Frutiger Next W1G"/>
                <a:ea typeface="+mn-ea"/>
                <a:cs typeface="+mn-cs"/>
              </a:rPr>
              <a:t>DeepRecon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ZEISS Frutiger Next W1G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E7A67B-91C9-79CC-DB6A-ECDB20A4D978}"/>
              </a:ext>
            </a:extLst>
          </p:cNvPr>
          <p:cNvSpPr txBox="1"/>
          <p:nvPr/>
        </p:nvSpPr>
        <p:spPr>
          <a:xfrm>
            <a:off x="9298793" y="1349893"/>
            <a:ext cx="167994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ZEISS Frutiger Next W1G"/>
                <a:ea typeface="+mn-ea"/>
                <a:cs typeface="+mn-cs"/>
              </a:rPr>
              <a:t>Proposed workflow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FFB923-3548-438B-3432-32FD243657C3}"/>
              </a:ext>
            </a:extLst>
          </p:cNvPr>
          <p:cNvSpPr txBox="1"/>
          <p:nvPr/>
        </p:nvSpPr>
        <p:spPr>
          <a:xfrm>
            <a:off x="1804943" y="1905283"/>
            <a:ext cx="140583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ZEISS Frutiger Next W1G"/>
                <a:ea typeface="+mn-ea"/>
                <a:cs typeface="+mn-cs"/>
              </a:rPr>
              <a:t>3D rendering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7593563-2CC2-319E-587F-6B5B6A3030CE}"/>
              </a:ext>
            </a:extLst>
          </p:cNvPr>
          <p:cNvSpPr/>
          <p:nvPr/>
        </p:nvSpPr>
        <p:spPr>
          <a:xfrm>
            <a:off x="9298793" y="5054709"/>
            <a:ext cx="351463" cy="397985"/>
          </a:xfrm>
          <a:prstGeom prst="ellipse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ZEISS Frutiger Next W1G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F5802ED-C453-B938-E143-B18D1C2FB64E}"/>
              </a:ext>
            </a:extLst>
          </p:cNvPr>
          <p:cNvSpPr/>
          <p:nvPr/>
        </p:nvSpPr>
        <p:spPr>
          <a:xfrm>
            <a:off x="9787303" y="2646963"/>
            <a:ext cx="351463" cy="397985"/>
          </a:xfrm>
          <a:prstGeom prst="ellipse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ZEISS Frutiger Next W1G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1282C77-430B-FF19-4790-99D74791A324}"/>
              </a:ext>
            </a:extLst>
          </p:cNvPr>
          <p:cNvSpPr/>
          <p:nvPr/>
        </p:nvSpPr>
        <p:spPr>
          <a:xfrm>
            <a:off x="7979240" y="2642489"/>
            <a:ext cx="351463" cy="397985"/>
          </a:xfrm>
          <a:prstGeom prst="ellipse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ZEISS Frutiger Next W1G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194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78</Words>
  <Application>Microsoft Macintosh PowerPoint</Application>
  <PresentationFormat>Widescreen</PresentationFormat>
  <Paragraphs>22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ZEISS Frutiger Next W1G</vt:lpstr>
      <vt:lpstr>Aptos</vt:lpstr>
      <vt:lpstr>Aptos Display</vt:lpstr>
      <vt:lpstr>Arial</vt:lpstr>
      <vt:lpstr>Office Theme</vt:lpstr>
      <vt:lpstr>PowerPoint Presentation</vt:lpstr>
      <vt:lpstr>Laminographic computed tomography (LCT)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HK1728</dc:creator>
  <cp:lastModifiedBy>HK1728</cp:lastModifiedBy>
  <cp:revision>1</cp:revision>
  <dcterms:created xsi:type="dcterms:W3CDTF">2025-12-12T01:32:12Z</dcterms:created>
  <dcterms:modified xsi:type="dcterms:W3CDTF">2025-12-12T02:15:00Z</dcterms:modified>
</cp:coreProperties>
</file>